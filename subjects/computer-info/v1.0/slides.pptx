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law students. This course builds practical skills in computing, MS Office, and ethical AI for legal practice. Expect SEE short notes, CIA practicals, and ethics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official Course Outcomes. Bloom tags signal exam depth: definitions at Understand; procedures at Apply; ethics vignettes at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teaching hours, 10% weight. Emphasize legal workflows: research, secure files, professional email. AI is introduced at survey level; ethics deepens in Unit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computer clearly for short-answer exams. Stress the data-to-information transformation—lawyers work with facts, dates, parties, and citations as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IPO model. Hardware is physical; software is instructions. Do not treat Office apps as the only software—the OS and browser matter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is high-yield for exams. Two functions to memorize: resource management and providing a platform for applications. Tie to folder discipline for client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 sample path like Research/Judgments/2026/. Professional reliability starts with OS-level file discipline, not just Word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judgment-download workflow: OS file manager → browser → database → save PDF with clear name. Distinguish open web from subscription legal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Email remains professional default. Teach subject-line clarity and attachment naming. Warn against sending sensitive matter details through unsecured personal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 the myth that AI equals only ChatGPT. Frame AI as a family of techniques applied across legal tech. Preview that Unit 5 covers ethics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history brief—a timeline slide for exams. Key exam phrase: evolution from rules → learning from data → generative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High-yield short note topic: AI applications in law. Always pair capability with accountability. Hallucinated citations are a known professional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 only—no math required. Students should name technique families and link each to a legal use case at a survey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tip slide. Common MCQ traps: software categories, OS purpose, and over-trusting AI. Revise definitions and one legal workflow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Live-demo drafting. Insist on styles over manual formatting. Track changes models senior review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formatting discipline equals professional credibility. Students will submit tracked-revision samples in lab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applying a Style versus manual bold/size. Styles are the professional standard and save time on long petitions.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pitfall: forgetting page numbers. Show header/footer insertion and when to use section breaks in multi-part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Tables beat space-bar alignment. Show a party-details table and a limitation timeline as legal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Mail merge steps are exam favorites. Demo with a small client list producing personalized notices or update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academic footnote workflow from court filing conventions. Students need both awareness for seminars and practice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Workflow: draft → review → accept/reject → finalize. Pitfall: submitting a document with visible markup unintentionally.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outline skeleton structures for exams. Formatting supports substance—learn both. Lab: draft a practice notice and affidavit.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 mail merge and track changes first—they appear repeatedly. Practice outlining document skeletons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Use a realistic chambers case register. Emphasize client data privacy during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Excel as a professional case-management tool, not just a calculator. Define workbook vs worksheet early—common exam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Case Register column layout. Merged cells break sorting—warn students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write formulas by hand in exams. Practice SUM, IF, and COUNTIF on a sample case register. Introduce lookup conceptually.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filtering Status = Pending and sorting by NextDate. Exam scenarios may ask what a filter reveals about caseload.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chart choice to message: compare categories with bar; show trend over time with line. Keep charts simple and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reminder throughout. A case tracker is the core lab deliverable—include NextDate and Status columns with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Billing lab: build a sheet where Amount is formula-driven. Pitfall: typing totals instead of using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 writing is practical-exam core. Revise cell references and three essential functions. Practice reading a filtered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Advocate clarity over decoration. One idea per slide. Speaker notes support moot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design philosophy early: slides are visual aids, not scripts. Moot and seminar contexts have different pacing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bad dense slide versus a clean one. Contrast and font size matter in courtrooms with projectors.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applying a theme and editing Slide Master for consistent footers. Formal moot decks need restrained visual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distinction: transitions = between slides; animations = within a slide. Both should be purposeful and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use SmartArt vs bullets is a common exam point. Show a simple litigation process or court hierarchy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presentation structure mirrors written pleadings. Slides summarize; oral argument adds authority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Moot deck is a lab deliverable. Emphasize speaker notes for citations while slides stay clean. Facts–issues–arguments–prayer is exam-ready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Seminar decks educate non-lawyers. Contrast with moot formality. Legal awareness lab may use light animation for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principles and moot structure are high-yield. Review a sample deck critically before the practical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Pair every tool demo with ethics critique. Never paste confidential client data into public AI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research workflow with verification step. Stress that subscription databases remain authoritative; AI assists retrieval and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generative AI for exams. Contrast with traditional search. Students should explain why training data limits legal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level only. Link to professional responsibility—analytics can reflect historical bias in court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8 alignment: human vs AI drafting comparison. AI accelerates first drafts; accountability stays with the advocate.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ethics topic. Scenario exams: student pastes client facts into ChatGPT—identify the confidentiality breach and correct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bias for exams: systematic unfairness in outputs. Give examples: skewed training data affecting predictions or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caution slide — pause for discussion. Use a vignette: fake citation discovered before filing. What should the student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 are exam favorites alongside ethics. Hallucination and jurisdiction mismatch are concrete examples students must articulate.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Human-in-the-loop is the operational answer to AI risk. Define it clearly—accountable human review over all consequential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Synthesize Unit 5 into a responsible-use checklist. Connect to Course Outcome 8: Evaluate AI for ethics and professional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vignettes dominate Unit 5 exams. Practice writing short structured answers: issue, rule/policy, application,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all five units in ten minutes. Point students to revision sheet and practicals 1–8. Ethics from T5 applies retroactively to T1 AI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Remind students of assessment mix: SEE short notes, procedures, practicals, and ethics scenarios. Close with integrity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A2E5C"/>
                </a:solidFill>
                <a:latin typeface="Calibri"/>
              </a:rPr>
              <a:t>Computer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F647A"/>
                </a:solidFill>
                <a:latin typeface="Calibri"/>
              </a:rPr>
              <a:t>Applied Computing &amp; AI for Law Students — Full Syllabus (Units 1–5)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6FB2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Course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[Understand] Explain computers, OS, internet, and digital communication in legal 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[Understand] Summarize AI history, techniques, legal applications, and future scope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[Apply] Format legal documents in MS Word with layout, merge, and track changes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[Apply] Draft notices, agreements, petitions, and affidavits in Word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[Apply] Manage case, client, and billing data in MS Excel with formulas and charts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[Create] Design moot, seminar, and case presentations in MS PowerPoint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[Apply] Use AI tools for research and drafting with human oversight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[Evaluate] Judge AI outputs for privacy, bias, accuracy, and professional limits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[Apply] Demonstrate syllabus practical skills across all five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1 — Introduction to Basic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What Is a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Electronic device that processes data into information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Follows instructions (programs) stored in software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Transforms raw facts into usable legal information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Used daily for drafting, research, and communication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Combines hardware, software, and human operators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Foundation for all other units in this course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Computer 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Hardware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CPU and RAM — run Word, Excel, browsers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Storage — SSD, cloud, USB for case files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Input — keyboard, scanner for petitions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Output — monitor, printer for filings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Software &amp; People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System software — operating system (OS)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Application software — Word, Excel, research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Peopleware — users following professional discipline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IPO cycle: Input → Process → Output →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Operating Systems — 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System software managing hardware and resources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Boots the machine and runs application programs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Organizes files, folders, users, and permissions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Examples: Windows, macOS, Linux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Provides security accounts and device drivers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Platform for all legal applications you will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OS Skills for Legal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Folder structure: Client / Case / Year hierarchy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Clear file naming: year, parties, doc type, version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Backups before court deadlines and submissions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Respect permissions on shared chambers drives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Separate drafts from final filed PDFs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store sole copies on unencrypted USB sticks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Internet Basics for Lawyers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Global network linking computers and services worldwide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Browser accesses websites and authenticated databases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Search engines find open web; databases hold primary law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Cloud services store and sync documents remotely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HTTPS and logins protect access to paid research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Download, rename, and log sources in research folders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Digital Communication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Email — formal advocate and chambers correspondence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Messaging and video calls for client meetings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Shared drives for team document collaboration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Clear subject lines and labeled attachments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Confidentiality: avoid personal channels for client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institution-approved tools where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Introduction to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Systems performing tasks needing human-like intelligence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Pattern recognition, language understanding, recommendations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Already embedded in research and document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Not limited to chatbots — includes analytics dashboards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Assists lawyers; does not replace professional judgment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Ethical use is mandatory — detailed in Unit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Brief History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1950s–80s: symbolic and rule-based expert systems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1990s–2000s: machine learning from data examples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2010s: deep learning advances in language and vision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2020s: generative AI widely available to professionals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Legal tech adoption accelerated with NLP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Regulation and ethics now catch up with capability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in the Legal Profession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Current Applications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Legal research and case summarization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Document review and contract analysis support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Analytics dashboards for case management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Drafting assistance under lawyer 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Professional Caution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Verify every citation — AI can hallucinate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Protect client confidentiality in all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Human lawyer remains accountable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Unit 5 covers ethics and limitations fully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Techniques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Expert systems — rules encoding legal logic (conceptual)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Machine learning — models trained on examples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NLP — processing statutes, judgments, contracts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Generative models — create new text from patterns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Future: more embedded tools, stronger analytics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Growing demand for ethical and regulatory frameworks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1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Define computer and explain IPO + storage cycle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List hardware vs application vs system software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State two core functions of an operating system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Distinguish browser search from legal databases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Short note: AI applications in the legal profession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Avoid confusing OS with MS Office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2 — MS Word for Legal Documentation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Word for Professional Legal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Primary tool for notices, agreements, petitions, affidavits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Professional output needs styles, not random font clicks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Consistent layout signals credibility to courts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Revision tools support supervised collaboration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Export to PDF after final proofreading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Syllabus practicals include notice and affidavit drafts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Creating and Formatting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Set font, size, line spacing, and alignment first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Styles (Heading 1, Body Text) for consistency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Styles enable automatic Table of Contents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Avoid multiple Enter presses for vertical spacing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Times New Roman or Arial per college/court norms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Save versions with clear filenames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Page Layout, Headers, and Footers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Margins, orientation, and paper size affect filing readability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Headers: matter title, confidentiality label, court name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Footers: page numbers essential on long petitions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Section breaks when header/footer content changes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Columns rarely used; tables preferred for structured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Preview print layout before submission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Tables in Legal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Organize parties, timelines, property schedules, fee lists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Insert via Insert → Table; define columns before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table styles for readable borders and shading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Avoid merged cells that break later sorting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Keep tables simple for court and client clarity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Convert tabular facts from narrative where helpful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Mail Merge — Steps and Legal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1: Create template with merge fields (Name, Address)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2: Connect data source (Excel or CSV list)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3: Insert fields and preview each record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4: Complete merge — print, PDF, or individual files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for batch client letters and workshop invitations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High-yield procedural question in SEE and CIA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References, Citations, and Footnotes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References tab manages footnotes and endnotes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Footnotes for academic seminar and project 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Bibliography tools support consistent citation lists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Follow college citation style when specified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Cross-references link to sections, figures, or tables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Professional filings may use manual citation per court rules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Track Changes and 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Revision mode records insertions, deletions, and formatting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Comments flag questions without altering text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Supervisor reviews; drafter accepts or rejects edits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Essential in chambers and moot coach feedback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Deliver clean copy unless markup is requested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accept all changes without reading each 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Legal Drafting Document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Notices &amp; Agreements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Notice: parties, facts, demand, timeline, signature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Agreement: title, parties, recitals, clauses, signatures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Clear numbered paragraphs for facts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Demand or obligation stated in plain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Petitions &amp; Affidavits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Petition: court title, parties, facts, grounds, prayer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Affidavit: deponent details, numbered facts, verification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Verification or oath block at the end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Structure matters as much as formatting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2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Memorize four mail merge steps in order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Explain purpose of track changes in legal drafting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Outline structure of notice vs affidavit vs petition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Name five syllabus Word features with one-line purpose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Procedure questions: headers, footers, page numbers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spaces instead of styles or proper tables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3 — MS Excel for Legal Data Management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Excel for Legal 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Turns scattered case facts into manageable registers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Workbook = .xlsx file; worksheet = single grid tab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Structure columns before entering many rows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Power comes from formulas, filters, and charts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Supports case tracking, client lists, and billing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Lab: case data sheet and billing sheet with formulas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Data Entry and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Design headers: CaseID, Client, Court, Status, FeesDue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Format dates as dates; currency as number/currency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Freeze top row so headers stay visible when scrolling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Wrap text for long notes; avoid unnecessary merges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One row per case or transaction — no blank spacer rows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Data Validation to limit Status dropdown values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Formulas and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Every formula begins with = and uses cell references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=SUM(H2:H100) — total fees across matters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=AVERAGE() — mean value for reporting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=IF(G2="Pending","Follow-up","OK") — status helper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=COUNTIF(G:G,"Pending") — count pending cases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Lookup (VLOOKUP/XLOOKUP): find client detail from master sheet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Sorting and Filtering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Sort orders rows by date, client name, or fee amount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Filter shows only rows matching criteria (e.g., Pending)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AutoFilter arrows appear on header row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Multiple filters narrow to urgent matters quickly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Clear filters before applying new analysis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Interpret filtered views in scenario exam questions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Charts and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Visual summary of numeric data — bar, pie, line charts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Select data range → Insert Chart → choose type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Bar charts compare case counts by court or status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Pie charts show proportion — use sparingly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Label axes and title for courtroom or seminar clarity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Charts update when underlying data changes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Case Tracking and Client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Case register: filing date, next date, status, advocate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Client master sheet: contact, matter history, notes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Limitation reminders via date columns and IF formulas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Separate sensitive client data — access controls matter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Regular backups of active registers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share full client sheets on unsecured channels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Billing and Documentation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Columns: Date, Client, Description, Hours, Rate, Amount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Amount = Hours × Rate using formulas, not typed values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SUM row for total billable fees per period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Separate sheets for invoices vs payment received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Currency format and clear period labels (month/year)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Documentation sheet cross-links to case IDs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3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Define workbook vs worksheet with examples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Write SUM, IF, and COUNTIF formulas from a scenario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Explain what a filter on Status = Pending shows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Interpret a simple bar chart of case counts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typing values where formulas are required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merged cells breaking sort and filter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4 — MS PowerPoint for Legal Presentations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PowerPoint in Legal and Academic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Communicate case facts, arguments, and awareness topics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Used in moot courts, seminars, and client meetings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Slides support oral advocacy — you are the presenter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Poor slides distract judges and examiners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Lab: moot court deck and legal awareness animation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8–12 slides is a typical student presentation length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Slide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One main idea per slide — avoid walls of text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Large readable fonts; high contrast background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Limit bullets to five or six per slide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images, diagrams, or quotes — not paragraphs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Consistent alignment and spacing throughout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Speaker notes hold detail; slides stay minimal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Themes and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Themes apply coordinated colors, fonts, and effects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Templates provide pre-built slide layouts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Choose professional themes — avoid distracting backgrounds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Slide Master edits fonts and placeholders globally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Match theme to context: formal moot vs awareness campaign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campus-blue and academic themes suit law presentations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Animations vs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Transitions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Effect when moving between entire slides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Examples: Fade, Push, Wipe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Use subtle transitions — one style for whole deck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Overuse distracts judges and examiners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Animations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Effects on objects within a single slide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Reveal bullet points or diagram steps sequentially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Build complex arguments step by step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Purpose: direct attention, not entertainment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SmartArt and Charts in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SmartArt visualizes processes, hierarchies, and cycles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for legal procedures or organizational structures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Insert Chart links to Excel data for live updates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Prefer SmartArt over bullet walls for relationships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Keep diagrams simple — label every element clearly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Test readability from the back of the room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Legal Case 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Open with caption: parties, court, statute involved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Facts slide — chronological, neutral tone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Issues framed as precise legal questions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Arguments split: petitioner vs respondent points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Relief or prayer stated clearly on dedicated slide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Annexures referenced; do not crowd slides with citations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Moot Court Presentation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Facts → Issues → Arguments → Prayer — classic flow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Allocate time: facts brief, arguments longest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Anticipate judge interruptions — backup slides optional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Speaker notes contain citations and case names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Closing slide: precise relief sought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Rehearse with timer; cut excess animation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Seminar and Legal Awareness Decks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Hook slide: striking question or statistic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Define key legal terms for general audience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examples and scenarios — not jargon alone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One awareness message per section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Call to action: rights, remedies, or helplines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Credits slide: sources and team members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4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State design principles: one idea, contrast, readability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Distinguish animation (within slide) vs transition (between)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When to use SmartArt instead of bullet lists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Outline moot deck structure: facts–issues–arguments–prayer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wall-of-text slides and excessive effects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unreadable color combinations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5 — AI and Ethical Use in Law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Tools for Legal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Database AI: natural-language search in case law platforms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Summarization tools condense judgments and statutes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Citation verification still requires primary 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Compare AI summary against original judgment text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Institution may provide approved research assistants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Open web chatbots are not substitutes for databases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Generative AI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Creates new text, images, or code from learned patterns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Large language models predict likely next words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Trained on vast corpora — not live legal databases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Useful for outlines, rephrasing, and brainstorming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Outputs may be wrong, outdated, or jurisdictionally off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Always label AI-assisted work per college policy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in Judiciary and Legal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Analytics dashboards track case pendency and outcomes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NLP tools assist classification and document clustering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Some jurisdictions pilot AI transcription and translation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Predictive analytics raise fairness and transparency issues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Lawyers must understand tool limits in court contexts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Regulatory frameworks evolving globally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AI-Assisted Drafting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Tools suggest clauses, rephrase paragraphs, check tone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Useful starting point for notices and memo outlines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Lawyer must verify facts, law, and citations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Comparative lab: human draft vs AI-assisted draft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file AI output without full professional review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Client confidentiality rules apply to all inputs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Privacy and 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Client names, facts, and documents are confidential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Public AI tools may store or train on your inputs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anonymized prompts or approved enterprise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Data protection laws govern personal information handling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Breach of confidentiality is a professional conduct issue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When in doubt, do not paste matter details into AI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Bias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AI reflects biases in training data and design choices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May disadvantage groups in risk scoring or search ranking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Historical court data can encode systemic inequities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Lawyers must question AI recommendations critically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Document limitations when relying on analytics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Fairness and access to justice are legal values at stake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Ethics Caution — Professional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You remain accountable for every filed document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AI does not hold a law license or appear in court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Disclose AI assistance when policy or court requires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cite AI-generated cases without verification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Competence includes understanding tools you use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Ethical practice means verify, protect, and disclose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Limitations of AI in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Hallucination — confident but fabricated citations or facts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Jurisdiction errors — foreign law presented as local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No real-world awareness of your specific matter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Cannot exercise ethical judgment or courtroom advocacy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Training cut-off dates miss recent amendments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AI assists research and drafting; it does not practice law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Human-in-the-Loop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Human lawyer reviews every AI output before reliance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Verification loop: generate → check → correct → approve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Senior supervision for student AI-assisted 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Maintain research logs showing primary sources checked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Reject and rewrite when AI output fails quality bar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Professional standard: accountable human judgment last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Responsible and Ethical AI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approved tools; know their terms of service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Minimize personal data in prompts; anonymize facts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Cross-check all legal propositions against primary 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Educate clients about AI limits when relevant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Stay updated on bar council and college AI policies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Ethics is not optional — it is part of legal competence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5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Short notes: bias, privacy, hallucination, human-in-the-loop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Scenario: identify confidentiality breach in AI use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Explain why AI citations must be verified independently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List three limitations of AI in legal practice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Compare human drafting vs AI-assisted drafting duties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assuming AI practices law or is always current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Course Summary — Units 1 to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T1: Computing fundamentals, OS, internet, AI survey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T2: Word formatting, merge, track changes, legal drafts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T3: Excel registers, formulas, filters, charts, billing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T4: PowerPoint design, themes, moot and seminar decks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T5: Generative AI, research tools, ethics, human oversight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Integrate skills: ethical digital practice across all tools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6FB2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Questions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Complete lab practicals 1–8 before CIA assessments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Revise exam tips and self-check questions per unit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Practice one notice, one Excel sheet, one moot deck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Run an ethical audit on any AI-assisted draft you create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Office hours and LMS materials available for support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Thank you — apply these skills with professional integrity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