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Unit 3 as a modular block (6 hours).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hours, 10% weight. Use a realistic chambers case register. Emphasize client data privacy during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Excel as a professional case-management tool, not just a calculator. Define workbook vs worksheet early—common exam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Case Register column layout. Merged cells break sorting—warn students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must write formulas by hand in exams. Practice SUM, IF, and COUNTIF on a sample case register. Introduce lookup conceptually.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filtering Status = Pending and sorting by NextDate. Exam scenarios may ask what a filter reveals about caseload.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chart choice to message: compare categories with bar; show trend over time with line. Keep charts simple and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Privacy reminder throughout. A case tracker is the core lab deliverable—include NextDate and Status columns with formulas.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Billing lab: build a sheet where Amount is formula-driven. Pitfall: typing totals instead of using 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Formula writing is practical-exam core. Revise cell references and three essential functions. Practice reading a filtered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students to materials/labs and materials/qa for this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A2E5C"/>
                </a:solidFill>
                <a:latin typeface="Calibri"/>
              </a:rPr>
              <a:t>Unit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4F647A"/>
                </a:solidFill>
                <a:latin typeface="Calibri"/>
              </a:rPr>
              <a:t>MS Excel for Legal Data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3F7FB"/>
                </a:solidFill>
                <a:latin typeface="Calibri"/>
              </a:rPr>
              <a:t>Unit 3 — MS Excel for Legal Data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Excel for Legal Data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Turns scattered case facts into manageable registers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Workbook = .xlsx file; worksheet = single grid tab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Structure columns before entering many rows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Power comes from formulas, filters, and charts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Supports case tracking, client lists, and billing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Lab: case data sheet and billing sheet with formulas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Data Entry and 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Design headers: CaseID, Client, Court, Status, FeesDue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Format dates as dates; currency as number/currency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Freeze top row so headers stay visible when scrolling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Wrap text for long notes; avoid unnecessary merges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One row per case or transaction — no blank spacer rows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Use Data Validation to limit Status dropdown values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Formulas and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Every formula begins with = and uses cell references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=SUM(H2:H100) — total fees across matters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=AVERAGE() — mean value for reporting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=IF(G2="Pending","Follow-up","OK") — status helper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=COUNTIF(G:G,"Pending") — count pending cases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Lookup (VLOOKUP/XLOOKUP): find client detail from master sheet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Sorting and Filtering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Sort orders rows by date, client name, or fee amount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Filter shows only rows matching criteria (e.g., Pending)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AutoFilter arrows appear on header row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Multiple filters narrow to urgent matters quickly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Clear filters before applying new analysis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Interpret filtered views in scenario exam questions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Charts and 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Visual summary of numeric data — bar, pie, line charts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Select data range → Insert Chart → choose type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Bar charts compare case counts by court or status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Pie charts show proportion — use sparingly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Label axes and title for courtroom or seminar clarity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Charts update when underlying data changes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Case Tracking and Client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Case register: filing date, next date, status, advocate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Client master sheet: contact, matter history, notes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Limitation reminders via date columns and IF formulas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Separate sensitive client data — access controls matter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Regular backups of active registers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Never share full client sheets on unsecured channels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Billing and Documentation 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Columns: Date, Client, Description, Hours, Rate, Amount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Amount = Hours × Rate using formulas, not typed values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SUM row for total billable fees per period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Separate sheets for invoices vs payment received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Currency format and clear period labels (month/year)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Documentation sheet cross-links to case IDs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Unit 3 — Exam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Define workbook vs worksheet with examples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Write SUM, IF, and COUNTIF formulas from a scenario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Explain what a filter on Status = Pending shows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Interpret a simple bar chart of case counts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Pitfall: typing values where formulas are required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Pitfall: merged cells breaking sort and filter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F6FB2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A2E5C"/>
                </a:solidFill>
                <a:latin typeface="Calibri"/>
              </a:rPr>
              <a:t>Unit 3 —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Complete unit labs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Attempt unit Q&amp;A bank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Submit unit assignment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Calibri"/>
              </a:rPr>
              <a:t>• Revise using revision sheet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