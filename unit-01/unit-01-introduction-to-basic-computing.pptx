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206240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1645920"/>
            <a:ext cx="420624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0" y="4937760"/>
            <a:ext cx="420624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852A"/>
                </a:solidFill>
                <a:latin typeface="JetBrains Mono"/>
              </a:rPr>
              <a:t>PARUL UNIVERSITY  ·  BA-LLB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Liberation Serif"/>
              </a:rPr>
              <a:t>Computer Information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Liberation Serif"/>
              </a:rPr>
              <a:t>Unit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Introduction to Basic Computing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From chambers workflow to AI literacy — exam-ready &amp; practice-ready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19456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52A"/>
                </a:solidFill>
                <a:latin typeface="JetBrains Mono"/>
              </a:rPr>
              <a:t>Faculty</a:t>
            </a:r>
          </a:p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Liberation Serif"/>
              </a:rPr>
              <a:t>Prof. Shivam Bhakta</a:t>
            </a:r>
          </a:p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Noto San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52A"/>
                </a:solidFill>
                <a:latin typeface="JetBrains Mono"/>
              </a:rPr>
              <a:t>Weightage</a:t>
            </a:r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Noto Sans"/>
              </a:rPr>
              <a:t>10%  ·  ~6 teaching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1 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852A"/>
                </a:solidFill>
                <a:latin typeface="JetBrains Mono"/>
              </a:rPr>
              <a:t>CLASSROOM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Liberation Serif"/>
              </a:rPr>
              <a:t>Computing is not replacing advocacy. It is amplifying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A junior who can organise files, research cleanly, communicate professionally, and verify AI output gets real responsibility faster.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LEARNING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By the end of Unit 1, you can…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Define a computer and explain the IPO cycle with legal examples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Identify hardware, software, memory, and storage used in chambers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Explain Operating Systems and professional file/security habits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Use Internet &amp; digital communication responsibly for legal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87952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Define AI, map legal applications, and spot hallucination risks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6E56"/>
                </a:solidFill>
                <a:latin typeface="Noto Sans"/>
              </a:rPr>
              <a:t>Exam + Internship focus: definitions · diagrams · workplace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Five movements in today’s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01 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Computer definition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Characteristics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Why lawyers need this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88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3880" y="150876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76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02  System Parts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IPO cycle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CPU / Memory / Storage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Devices in chambers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624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2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03  Operating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2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OS functions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Files &amp; extensions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Security hygiene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6334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04  Connected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Internet vs WWW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Research quality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Email &amp; VC etiquette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388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3880" y="386334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676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05  AI Literacy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676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History snapshot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Legal applications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Techniques &amp; future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624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6240" y="386334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912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06  Exam Ready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912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Revision map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Traps to avoid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Practice prompts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852A"/>
                </a:solidFill>
                <a:latin typeface="JetBrains Mono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iberation Serif"/>
              </a:rPr>
              <a:t>Foundations of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Definitions that score marks — examples that survive internship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What is a Computer?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An electronic device that accepts data (input)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Processes it according to instructions (program / software)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Stores intermediate and final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Produces useful information (output)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B2C2C"/>
                </a:solidFill>
                <a:latin typeface="Noto Sans"/>
              </a:rPr>
              <a:t>Exam trap: don’t write “a machine that thinks.” Write “processes data as per instructions.”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CORE DISTINCTION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Data vs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Data (raw)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Case No. 12/2024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Rs. 50,000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12 Jan 2024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Unprocessed facts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Not yet decision-ready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Information (meaningful)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Client X owes Rs. 50,000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as of 12 Jan 2024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in Case No. 12/2024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Processed + contextual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Supports legal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Six traits — with law-office meaning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Trait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Legal workplace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Works very fast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Search many judgments quickly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Correct if instructions are 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Fee / interest sheets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8328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Diligence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No fatigue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Overnight PDF indexing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Huge capacity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Years of client archives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Versatility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Many tasks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Draft + research + billing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440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5440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Follows programs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5440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Reminders for limitation 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LAW OFFICE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Day 1 in Chambers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Junior A: can only type slowly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Junior B: folders, PDFs, research, clean notice format, professional email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Who gets drafting + client-facing responsibility first?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Unit 1 skills are employability skills — not “extra computer class”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6E56"/>
                </a:solidFill>
                <a:latin typeface="Noto Sans"/>
              </a:rPr>
              <a:t>Remember: computers amplify advocacy; they do not replace professional judgment.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852A"/>
                </a:solidFill>
                <a:latin typeface="JetBrains Mono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iberation Serif"/>
              </a:rPr>
              <a:t>Components of a Computer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Input → Process → Output, with storage underneath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852A"/>
                </a:solidFill>
                <a:latin typeface="JetBrains Mono"/>
              </a:rPr>
              <a:t>IPO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Liberation Serif"/>
              </a:rPr>
              <a:t>INPUT  →  PROCESS (CPU + Memory)  →  OUTPUT</a:t>
            </a:r>
          </a:p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Liberation Serif"/>
              </a:rPr>
              <a:t>                    ↕</a:t>
            </a:r>
          </a:p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Liberation Serif"/>
              </a:rPr>
              <a:t>                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If you can explain this flow with a legal story, you can score on diagram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DEVICES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Input &amp; Output in Legal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Input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Keyboard — drafting petitions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Mouse — editing PDFs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Scanner — vakalatnama / annexures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Mic — dictation / meeting notes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Webcam — virtual hearings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Output devices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Monitor — research &amp; review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Printer — filing sets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Speakers — webinars / VC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Projector — moot / seminar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PDF export — shareable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The brain of the computer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3494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23494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4914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ALU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91490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Arithmetic &amp; logic comparisons — the “maths &amp; yes/no” 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5060" y="1508760"/>
            <a:ext cx="523494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5060" y="1508760"/>
            <a:ext cx="523494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7940" y="1737360"/>
            <a:ext cx="4914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Control 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7940" y="2194560"/>
            <a:ext cx="491490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Fetches, decodes, directs instructions — the traffic police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63340"/>
            <a:ext cx="523494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63340"/>
            <a:ext cx="523494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91940"/>
            <a:ext cx="4914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Registers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49140"/>
            <a:ext cx="491490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Tiny ultra-fast storage inside the CPU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3863340"/>
            <a:ext cx="523494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5060" y="3863340"/>
            <a:ext cx="523494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7940" y="4091940"/>
            <a:ext cx="4914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Fetch → Decode → 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7940" y="4549140"/>
            <a:ext cx="491490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Basic instruction cycle — useful phrase for clarity in answers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RAM vs ROM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Random Access Memory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Volatile — lost when power is off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Working memory for open apps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Draft lives here while editing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More RAM ⇒ smoother multitasking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ROM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Read Only Memory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Non-volatile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Boot / firmware instructions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Not for saving your petition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Different role from storage drives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Where files actually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Legal 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SSD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Modern laptop drive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Fast daily drafting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HDD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Hard disk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Large archives / cost capacity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8328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USB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Pen drive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Convenient but easy to lose — 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Drive / OneDrive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Backup &amp; remote access (policy-based)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PDF/DOCX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File formats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Filing-ready vs editable drafts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PROFESSIONAL HABIT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File naming that saves careers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Bad: finalfinal2(1).docx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Good: 2024-07-13_Notice_Sharma_v_State_Draft-v3.docx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Include date + matter + document type + 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This is computing skill + professional reputation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6E56"/>
                </a:solidFill>
                <a:latin typeface="Noto Sans"/>
              </a:rPr>
              <a:t>Law Office Lens: seniors notice discipline before they notice slogans.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852A"/>
                </a:solidFill>
                <a:latin typeface="JetBrains Mono"/>
              </a:rPr>
              <a:t>PART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iberation Serif"/>
              </a:rPr>
              <a:t>Operating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The manager between you and the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What is an Operating System?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System software that manages hardware &amp; software 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Provides common services for programs and 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Examples: Windows, macOS, Linux, Android, 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Windows is most common in Indian chambers &amp; offices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B2C2C"/>
                </a:solidFill>
                <a:latin typeface="Noto Sans"/>
              </a:rPr>
              <a:t>Exam trap: Windows is system software (OS), not application software like MS Word.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Six OS jobs (memorise with examples)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Process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Runs Word + browser + PDF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88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3880" y="150876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76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Memory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Allocates RAM; slowdowns when overloaded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624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2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File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2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Folders like Notices / Evidence / Orders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6334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Device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Printers, scanners, drivers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388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3880" y="386334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676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676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Passwords, accounts, access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624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6240" y="386334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912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User 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912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GUI icons vs CLI commands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SECURITY HYGIENE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Confidentiality is also an OS habit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Strong password / passkey + screen lock in chambers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Don’t leave client drafts open on shared desktops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Beware unknown USB drives (malware risk)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Keep OS updated; follow backup policy (local + approved cloud)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B2C2C"/>
                </a:solidFill>
                <a:latin typeface="Noto Sans"/>
              </a:rPr>
              <a:t>Leaving a settlement draft unlocked can breach client trust and professional ethics.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852A"/>
                </a:solidFill>
                <a:latin typeface="JetBrains Mono"/>
              </a:rPr>
              <a:t>PART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iberation Serif"/>
              </a:rPr>
              <a:t>Internet &amp; Digital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Speed is useless without source quality and professional 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BASICS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Internet vs WWW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Global network of networks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Uses standard protocols (TCP/IP)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Infrastructure / highway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Carries many services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Email, file transfer, messaging…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WWW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World Wide Web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Linked hypertext pages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One service on the Internet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Accessed via browsers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Not identical to “the Internet”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Quick expansions that appear in exams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Address of a web resource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88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3880" y="150876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76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ISP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Internet Service Provider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624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2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IP Address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2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Numeric identity of a device on a network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6334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DNS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Converts domain names to IP addresses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388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3880" y="386334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676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Browser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676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Chrome / Edge / Firefox — window to the web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624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6240" y="386334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912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HTTPS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912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More secure transport for sensitive sessions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RESEARCH QUALITY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What should a BA-LLB student trust?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Best: Official gazette / court website / authenticated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Good: Reputed academic publisher / recognised commentary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Weak: Random blogs, undated PDFs, viral forwards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Dangerous: AI-invented citations presented as real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6E56"/>
                </a:solidFill>
                <a:latin typeface="Noto Sans"/>
              </a:rPr>
              <a:t>Internet speed ≠ research quality. Prefer primary 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DIGITAL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Tools of modern legal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Typical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Caution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Formal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Tone, attachments, confidentiality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Video conference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Hearings / meetings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Rules, background, consent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8328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Instant messaging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Quick updates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No casual overpromising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Cloud 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Collaborative drafts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Access permissions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Portals / SMS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E-filing alerts / OTP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Verify authenticity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EMAIL ETIQUETTE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A junior skill that instantly looks senior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Subject: Draft Notice for Review — Sharma v ABC — Reply by 5 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Purpose in the first lines; clear ask + deadline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Attachments named properly; polite professional close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Write as if a judge might someday read the trail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B2C2C"/>
                </a:solidFill>
                <a:latin typeface="Noto Sans"/>
              </a:rPr>
              <a:t>One WhatsApp promise of “we will win tomorrow” can become evidence of carelessness.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852A"/>
                </a:solidFill>
                <a:latin typeface="JetBrains Mono"/>
              </a:rPr>
              <a:t>PART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iberation Serif"/>
              </a:rPr>
              <a:t>Artificial Intelligence for Law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Use the accelerator — keep your hands on the wheel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What is Artificial Intelligence?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Branch of computer science creating systems for intelligence-like tasks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Understanding language, recognising patterns, solving problems, supporting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Learns from data and models; produces predictions, text, classifications, etc.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Today’s practical AI is mostly Narrow AI (task-specific)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CLARIFY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Automation vs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Rule-based repetition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Mail merge of 200 notices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Same steps every time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Predictable workflow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Great for routine office tasks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AI assistance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Learns patterns / language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Summarise 200 judgments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Draft first-version notice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Can be wrong confidently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Needs human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HISTORY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A storyline, not a year-cramming contest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Milestone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Why it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1950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Turing’s question / test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Can machines think?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1956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Dartmouth Conference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AI field named / begins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8328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1960s–70s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Expert systems optimism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Rule-based attempts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AI Winters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Interest &amp; funding drop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Hype met limits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1990s–2010s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ML / Deep Blue / deep learning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Practical breakthroughs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440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2020s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5440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Generative AI / LLMs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5440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Legal-tech acceleration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LEGAL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Where AI already shows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Research 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Keywords, summaries, issue mapping — then 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88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3880" y="150876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76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Document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Large contract sets, clause spotting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50876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624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2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Drafting help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20" y="219456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First drafts of notices / checklists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6334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Transcription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Speech-to-text for notes &amp; hearings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388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3880" y="386334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676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676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Trends &amp; clustering — not destiny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6240" y="3863340"/>
            <a:ext cx="3413760" cy="21259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6240" y="386334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912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Client intake bots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9120" y="4549140"/>
            <a:ext cx="3093720" cy="125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FAQ triage in some firms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CASELETS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Real-world style warnings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Research: AI suggests keywords — you open authentic databases and verify 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Drafting: AI writes in 20 seconds — you check facts, jurisdiction, limitation, tone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Confidentiality: pasting a full client agreement into a public chatbot is a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Hallucination: fake citations can destroy credibility instantly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B2C2C"/>
                </a:solidFill>
                <a:latin typeface="Noto Sans"/>
              </a:rPr>
              <a:t>Human-in-the-loop is not optional in law. It is professional responsibility.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Beginner map (with legal flavour)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698480" cy="64008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Plain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3568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Noto Sans"/>
              </a:rPr>
              <a:t>Legal-ish example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Learn patterns from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2402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Spam vs important 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NLP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Process human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8803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Summarise a judgment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8328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Expert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Rules from experts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3520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Document checklist bots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02336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Computer 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Understand images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4160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Scanned page pipelines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Generative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Create new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800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Draft outline / notice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303520"/>
            <a:ext cx="10698480" cy="640080"/>
          </a:xfrm>
          <a:prstGeom prst="rect">
            <a:avLst/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440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OCR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7408" y="5440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Image-text → editable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5440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Digitise old case papers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Where this is heading for BA-LLB graduates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Deeper AI support in research, contracts, and administration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New roles: legal technologist, AI compliance counsel, prompt-skilled associates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Stronger expectations around privacy, bias, and accountability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Build three muscles together: tool skill · legal skill · ethical skill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6E56"/>
                </a:solidFill>
                <a:latin typeface="Noto Sans"/>
              </a:rPr>
              <a:t>Shallow line to avoid: “AI will replace lawyers.” Better: AI assists; accountability stays human.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852A"/>
                </a:solidFill>
                <a:latin typeface="JetBrains Mono"/>
              </a:rPr>
              <a:t>PART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Liberation Serif"/>
              </a:rPr>
              <a:t>Put It Together + Exam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One story, one revision map, fewer silly traps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END-TO-END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From client call to hearing folder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Digital communication: schedule VC + confirm by email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12848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22576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OS skills: create matter folders (Instructions / Evidence / Drafts / Filings / Billing)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71216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80944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Scanner + storage: digitise to PDF and back 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9584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39312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Internet: check statute text from official 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87952"/>
            <a:ext cx="106070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10149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212B"/>
                </a:solidFill>
                <a:latin typeface="Noto Sans"/>
              </a:rPr>
              <a:t>AI: ask for a checklist — verify with senior; never dump confidential annexures into public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607040" cy="5943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7900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6E56"/>
                </a:solidFill>
                <a:latin typeface="Noto Sans"/>
              </a:rPr>
              <a:t>This is why Unit 1 unlocks Word, Excel, PowerPoint, and Ethical AI units.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QUICK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B3D4A"/>
                </a:solidFill>
                <a:latin typeface="Liberation Serif"/>
              </a:rPr>
              <a:t>Ten-point map before internals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1 Computer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Input → process → output + storage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3880" y="150876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3880" y="150876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676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2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219456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Devices + CPU + memory + software +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6240" y="150876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6240" y="150876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20" y="173736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3 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20" y="219456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Resource manager; Windows common in offices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8605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68605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1465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4 Internet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7185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Network of networks; WWW is a 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3880" y="268605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3880" y="268605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6760" y="291465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5 Communication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6760" y="337185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Email / VC / chat with professionalism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6240" y="268605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6240" y="268605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9120" y="291465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6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9120" y="337185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Intelligence-like tasks; mostly Narrow AI today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86334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386334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7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54914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Turing → Dartmouth → winters → generative AI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3880" y="386334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3880" y="386334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676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8 Legal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6760" y="454914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Research, review, draft aid — always verified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6240" y="386334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6240" y="386334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9120" y="409194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9 Techniques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9120" y="454914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ML, NLP, OCR, generative models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04063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1520" y="504063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26923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10 Future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72643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Legal-tech + ethics; skilled lawyers stay central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73880" y="504063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73880" y="5040630"/>
            <a:ext cx="3413760" cy="73152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6760" y="526923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Trap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56760" y="572643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RAM is not permanent storage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16240" y="5040630"/>
            <a:ext cx="3413760" cy="94869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7C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16240" y="5040630"/>
            <a:ext cx="3413760" cy="73152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99120" y="5269230"/>
            <a:ext cx="3093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4A"/>
                </a:solidFill>
                <a:latin typeface="Liberation Serif"/>
              </a:rPr>
              <a:t>Trap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9120" y="5726430"/>
            <a:ext cx="3093720" cy="8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4212B"/>
                </a:solidFill>
                <a:latin typeface="Noto Sans"/>
              </a:rPr>
              <a:t>AI citations can be fake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11480"/>
            <a:ext cx="109728" cy="64008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3D4A"/>
                </a:solidFill>
                <a:latin typeface="JetBrains Mono"/>
              </a:rPr>
              <a:t>PRACTICE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3D4A"/>
                </a:solidFill>
                <a:latin typeface="Liberation Serif"/>
              </a:rPr>
              <a:t>Use these tonight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D9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Short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Define computer + 4 characteristics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RAM vs ROM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OS functions (any four)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Internet vs WWW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AI hallucination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074920" cy="4480560"/>
          </a:xfrm>
          <a:prstGeom prst="roundRect">
            <a:avLst>
              <a:gd name="adj" fmla="val 8000"/>
            </a:avLst>
          </a:prstGeom>
          <a:solidFill>
            <a:srgbClr val="F3E2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83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4A"/>
                </a:solidFill>
                <a:latin typeface="Liberation Serif"/>
              </a:rPr>
              <a:t>Long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3172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Components with legal examples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OS + law-office file security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AI applications &amp; limitations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“AI assists, not replaces” discuss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4212B"/>
                </a:solidFill>
                <a:latin typeface="Noto Sans"/>
              </a:rPr>
              <a:t>Digital communication etiquette &amp;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4A5B63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A5B63"/>
                </a:solidFill>
                <a:latin typeface="JetBrains Mono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852A"/>
                </a:solidFill>
                <a:latin typeface="JetBrains Mono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Liberation Serif"/>
              </a:rPr>
              <a:t>Master the language of computers now.</a:t>
            </a:r>
          </a:p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Liberation Serif"/>
              </a:rPr>
              <a:t>Later units will feel natural.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Next on the slides branch after your go-ahead for Unit 2: MS Word for Legal Documentation.
Questions welcome — let’s make a “common syllabus” feel alive.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8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Liberation Serif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Computer Information · Unit 1 · Introduction to Basic Computing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Parul University · BA-LLB · Prof. Shivam Bhakta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9E8E5"/>
                </a:solidFill>
                <a:latin typeface="Noto Sans"/>
              </a:rPr>
              <a:t>Notes + Q&amp;A + Assignments available on the notes &amp; materials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Noto Sans"/>
              </a:rPr>
              <a:t>Parul University  ·  BA-LLB  ·  Computer Information  ·  Prof. Shivam Bhakta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JetBrains Mono"/>
              </a:rPr>
              <a:t>40 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